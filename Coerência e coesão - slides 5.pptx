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308" r:id="rId3"/>
    <p:sldId id="278" r:id="rId4"/>
    <p:sldId id="279" r:id="rId5"/>
    <p:sldId id="291" r:id="rId6"/>
    <p:sldId id="292" r:id="rId7"/>
    <p:sldId id="293" r:id="rId8"/>
    <p:sldId id="280" r:id="rId9"/>
    <p:sldId id="281" r:id="rId10"/>
    <p:sldId id="294" r:id="rId11"/>
    <p:sldId id="301" r:id="rId12"/>
    <p:sldId id="300" r:id="rId13"/>
    <p:sldId id="299" r:id="rId14"/>
    <p:sldId id="298" r:id="rId15"/>
    <p:sldId id="295" r:id="rId16"/>
    <p:sldId id="306" r:id="rId17"/>
    <p:sldId id="305" r:id="rId18"/>
    <p:sldId id="304" r:id="rId19"/>
    <p:sldId id="303" r:id="rId20"/>
    <p:sldId id="302" r:id="rId21"/>
    <p:sldId id="297" r:id="rId2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056B0-F65A-4605-8777-ECC574D08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CD817F-8610-4DDB-AFE1-74992087C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9221EE-1112-42DD-A125-7A6425D0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334A40-A416-412E-8638-802D2808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9217539-609E-48AD-95FB-D2A3E6AB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224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AE8AB-E4C0-4831-95C9-EE459A85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A724C1-2B4E-47D3-B16E-B8C4289A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10A605B-F0B8-4146-8EC3-F2914C67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70EBA9B-C005-439C-9C63-FA819832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FDBAE34-9CB5-412E-84F6-07080429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756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2AED1-4B44-424C-B076-431F88E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7CF1817-8060-4164-93F0-3B3FEFF5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6644E6-FB09-41DF-9035-84227E5A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9CF42E-72F0-4BF5-B360-7C1498BB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35337C-15C6-4F1C-A2EA-AF3A5449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241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A72D7-2C60-4439-BE79-9B1FF34D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1A7D0CC-5659-408C-B4C4-724AADD20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5C91FF2-4AF1-4303-A57D-E76730633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C5C4-EB02-4849-A72E-9A34E45D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F3BCB5F-E2C6-412B-95F6-04A0D1EA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D175223-1385-4856-B38A-2C375098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06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B63A9-DA87-494B-9A2C-5249C639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D59BED5-3026-406C-A552-2DB931A7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B13BE4F-706A-468A-8384-E10B588B4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BE2A050-4A09-486C-BCC5-6B3956436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EF11627-A34F-4A2D-89C5-E7D56A72A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1472BFC-1D56-4E81-8865-2B5C85A8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B4F9E51-DAD1-423D-8425-C865EEEA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30B1A19-ED84-4FEF-9B08-6F40F312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264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8EB9A-CEFE-4F74-9549-39BA2921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18E86DA-03C9-4A90-8890-F195BA8C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8937EFB-3C69-4057-BB5A-FF0EBA18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332E424-84D7-423E-932C-EB595758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165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BA18170-AF8F-4F3A-B480-FB3C7515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CE12CD5-FA93-49FB-AC58-D656B74F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921141-E16D-4AF1-B490-93063C6F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179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CDE0-C78C-4718-854B-F1EFBCAD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9D099C3-0B3D-4308-A6A0-2D202EBD2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3EEFACF-7788-4473-8D70-612B31C6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B29C8A3-825B-4391-A1DD-6EF2B075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7C25AA6-F68E-44AB-9662-0E6227A5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8948D-83CC-4D1D-B3A6-3061E103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127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D928A-4F47-4430-A0BF-27C70465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02EE8E2-F78E-4EBD-8A69-45E06DD8B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9DA2C1E-F249-48B8-9EC4-5E7053577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20F5EE-5528-4F01-835D-8D794BEE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6A91910-DE35-4257-8FF7-5EE431A2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2F29758-FC33-43E0-8B21-01AF8CB0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083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B3CE0-DD26-449D-82F8-9218FF43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3A6AF13-8AE9-44B1-AB39-F6B058469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623F984-34F6-42FC-A235-0F115610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ECB7107-7ACB-4298-B668-A717E744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24F6DF9-4F3C-45CD-A9E2-1277E6AD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739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5C1F1F-68D4-45BA-84B6-48A6481C1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2E7D6E1-19BF-4906-AFF4-D00B02CFB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5B9BF05-FA00-4F2E-A5E6-D001A61D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A139973-E610-432A-BB53-E1DCE7DC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4FF9CD5-7DE9-4BA9-B394-56B18AA6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563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6BAEF08-5D4F-4081-94FA-98A42DAA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5C2BAE-530E-4F31-9895-3E51FA963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C22E6D4-B003-4E78-B729-1A1B867F0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14E15-D4BD-425A-BEEC-75D563BD9348}" type="datetimeFigureOut">
              <a:rPr lang="pt-PT" smtClean="0"/>
              <a:t>13/10/2021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D45121-ABB7-4FC7-A44C-6AACE8393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4D5A9D-B026-446D-960A-D0C967AF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217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782416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7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Reflexão sobre a gramática</a:t>
            </a:r>
            <a:br>
              <a:rPr lang="pt-PT" sz="7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7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Gémeos do mal</a:t>
            </a:r>
            <a:endParaRPr lang="pt-PT" sz="8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895060"/>
            <a:ext cx="11569148" cy="4850295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“Onde” e “aonde”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“Descrição” e “discrição”</a:t>
            </a:r>
            <a:endParaRPr lang="pt-PT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pt-PT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“Comprimento” e “cumprimento”</a:t>
            </a:r>
            <a:endParaRPr lang="pt-PT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pt-PT" sz="5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pt-PT" sz="40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82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5400" b="1" u="sng" dirty="0">
                <a:latin typeface="Times New Roman"/>
                <a:ea typeface="SimSun"/>
                <a:cs typeface="Times New Roman"/>
              </a:rPr>
              <a:t>COERÊNCIA</a:t>
            </a:r>
            <a:endParaRPr lang="pt-BR" sz="48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750"/>
              </a:spcAft>
            </a:pPr>
            <a:r>
              <a:rPr lang="pt-PT" sz="5400" dirty="0">
                <a:latin typeface="Times New Roman"/>
                <a:ea typeface="Times New Roman"/>
              </a:rPr>
              <a:t>Quando se fala da </a:t>
            </a:r>
            <a:r>
              <a:rPr lang="pt-PT" sz="5400" b="1" dirty="0">
                <a:latin typeface="Times New Roman"/>
                <a:ea typeface="SimSun"/>
              </a:rPr>
              <a:t>coerência</a:t>
            </a:r>
            <a:r>
              <a:rPr lang="pt-PT" sz="5400" dirty="0">
                <a:latin typeface="Times New Roman"/>
                <a:ea typeface="Times New Roman"/>
              </a:rPr>
              <a:t>, refere-se ao sentido ou lógica interna de um texto, isto é, o assunto abordado não deve ter distorções, de modo a facilitar o entendimento da mensagem.</a:t>
            </a:r>
            <a:endParaRPr lang="pt-BR" sz="5400" dirty="0">
              <a:latin typeface="Times New Roman"/>
              <a:ea typeface="Times New Roman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4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8400" b="1" u="sng" dirty="0">
                <a:latin typeface="Times New Roman"/>
                <a:ea typeface="SimSun"/>
                <a:cs typeface="Times New Roman"/>
              </a:rPr>
              <a:t>COESÃO</a:t>
            </a:r>
            <a:endParaRPr lang="pt-BR" sz="8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5800" dirty="0">
                <a:latin typeface="Times New Roman"/>
                <a:ea typeface="Times New Roman"/>
              </a:rPr>
              <a:t>A </a:t>
            </a:r>
            <a:r>
              <a:rPr lang="pt-PT" sz="5800" b="1" dirty="0">
                <a:latin typeface="Times New Roman"/>
                <a:ea typeface="Times New Roman"/>
              </a:rPr>
              <a:t>coesão</a:t>
            </a:r>
            <a:r>
              <a:rPr lang="pt-PT" sz="5800" dirty="0">
                <a:latin typeface="Times New Roman"/>
                <a:ea typeface="Times New Roman"/>
              </a:rPr>
              <a:t> tem a ver com selecção adequada de palavras; a ligação harmônica entre as frases e/ou parágrafos de um texto, fazendo com que fiquem ajustados entre si, mantendo uma relação de significação.</a:t>
            </a:r>
            <a:endParaRPr lang="pt-BR" sz="5800" dirty="0">
              <a:latin typeface="Times New Roman"/>
              <a:ea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5800" i="1" dirty="0">
                <a:latin typeface="Times New Roman"/>
                <a:ea typeface="SimSun"/>
                <a:cs typeface="Times New Roman"/>
              </a:rPr>
              <a:t> </a:t>
            </a:r>
            <a:endParaRPr lang="pt-BR" sz="58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5800" dirty="0">
                <a:latin typeface="Times New Roman"/>
                <a:ea typeface="SimSun"/>
                <a:cs typeface="Times New Roman"/>
              </a:rPr>
              <a:t>A coesão diferentemente da coerência, preocupa-se com a estrutura de um texto, ou seja, procura garantir  a </a:t>
            </a:r>
            <a:r>
              <a:rPr lang="pt-PT" sz="5800" b="1" dirty="0">
                <a:latin typeface="Times New Roman"/>
                <a:ea typeface="SimSun"/>
                <a:cs typeface="Times New Roman"/>
              </a:rPr>
              <a:t>ligação harmônica das palavras</a:t>
            </a:r>
            <a:r>
              <a:rPr lang="pt-PT" sz="5800" dirty="0">
                <a:latin typeface="Times New Roman"/>
                <a:ea typeface="SimSun"/>
                <a:cs typeface="Times New Roman"/>
              </a:rPr>
              <a:t> num texto.</a:t>
            </a:r>
            <a:endParaRPr lang="pt-BR" sz="5800" dirty="0">
              <a:ea typeface="Calibri"/>
              <a:cs typeface="Times New Roman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744816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104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I. Tipos de coerência</a:t>
            </a:r>
            <a:endParaRPr lang="pt-BR" sz="10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10400" dirty="0">
                <a:latin typeface="Times New Roman"/>
                <a:ea typeface="SimSun"/>
                <a:cs typeface="Times New Roman"/>
              </a:rPr>
              <a:t>Os tipos de coerência textual são </a:t>
            </a:r>
            <a:r>
              <a:rPr lang="pt-PT" sz="10400" u="sng" dirty="0">
                <a:latin typeface="Times New Roman"/>
                <a:ea typeface="SimSun"/>
                <a:cs typeface="Times New Roman"/>
              </a:rPr>
              <a:t>imprescindíveis</a:t>
            </a:r>
            <a:r>
              <a:rPr lang="pt-PT" sz="10400" dirty="0">
                <a:latin typeface="Times New Roman"/>
                <a:ea typeface="SimSun"/>
                <a:cs typeface="Times New Roman"/>
              </a:rPr>
              <a:t> para a </a:t>
            </a:r>
            <a:r>
              <a:rPr lang="pt-PT" sz="10400" u="sng" dirty="0">
                <a:latin typeface="Times New Roman"/>
                <a:ea typeface="SimSun"/>
                <a:cs typeface="Times New Roman"/>
              </a:rPr>
              <a:t>coerência global</a:t>
            </a:r>
            <a:r>
              <a:rPr lang="pt-PT" sz="10400" b="1" dirty="0">
                <a:latin typeface="Times New Roman"/>
                <a:ea typeface="SimSun"/>
                <a:cs typeface="Times New Roman"/>
              </a:rPr>
              <a:t> </a:t>
            </a:r>
            <a:r>
              <a:rPr lang="pt-PT" sz="10400" dirty="0">
                <a:latin typeface="Times New Roman"/>
                <a:ea typeface="SimSun"/>
                <a:cs typeface="Times New Roman"/>
              </a:rPr>
              <a:t>de um texto: </a:t>
            </a:r>
            <a:endParaRPr lang="pt-BR" sz="10400" dirty="0">
              <a:ea typeface="Calibri"/>
              <a:cs typeface="Times New Roman"/>
            </a:endParaRPr>
          </a:p>
          <a:p>
            <a:pPr marL="1143000" indent="-11430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10400" b="1" dirty="0">
                <a:latin typeface="Times New Roman"/>
                <a:ea typeface="SimSun"/>
                <a:cs typeface="Times New Roman"/>
              </a:rPr>
              <a:t>Coerência sintáctica</a:t>
            </a:r>
            <a:endParaRPr lang="pt-BR" sz="10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10400" dirty="0">
                <a:latin typeface="Times New Roman"/>
                <a:ea typeface="SimSun"/>
                <a:cs typeface="Times New Roman"/>
              </a:rPr>
              <a:t>Tem a ver com a estrutura frásica, por exemplo, a ordem como os elementos linguisticos são dispostos na frase, a selecção lexical, as regras de concordância e de regência, etc.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10400" dirty="0">
                <a:latin typeface="Times New Roman"/>
                <a:ea typeface="SimSun"/>
                <a:cs typeface="Times New Roman"/>
              </a:rPr>
              <a:t>A sua principal função é </a:t>
            </a:r>
            <a:r>
              <a:rPr lang="pt-PT" sz="10400" u="sng" dirty="0">
                <a:latin typeface="Times New Roman"/>
                <a:ea typeface="SimSun"/>
                <a:cs typeface="Times New Roman"/>
              </a:rPr>
              <a:t>eliminar</a:t>
            </a:r>
            <a:r>
              <a:rPr lang="pt-PT" sz="10400" dirty="0">
                <a:latin typeface="Times New Roman"/>
                <a:ea typeface="SimSun"/>
                <a:cs typeface="Times New Roman"/>
              </a:rPr>
              <a:t>, por exemplo, as </a:t>
            </a:r>
            <a:r>
              <a:rPr lang="pt-PT" sz="10400" u="sng" dirty="0">
                <a:latin typeface="Times New Roman"/>
                <a:ea typeface="SimSun"/>
                <a:cs typeface="Times New Roman"/>
              </a:rPr>
              <a:t>estruturas ambíguas</a:t>
            </a:r>
            <a:r>
              <a:rPr lang="pt-PT" sz="10400" dirty="0">
                <a:latin typeface="Times New Roman"/>
                <a:ea typeface="SimSun"/>
                <a:cs typeface="Times New Roman"/>
              </a:rPr>
              <a:t>, o uso inadequado de conectores como elementos indispensáveis para a coesão textual. </a:t>
            </a:r>
            <a:endParaRPr lang="pt-BR" sz="10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0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3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pt-BR" sz="3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pt-BR" sz="32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pt-PT" sz="5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60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10400" b="1" dirty="0">
                <a:latin typeface="Times New Roman"/>
                <a:ea typeface="SimSun"/>
              </a:rPr>
              <a:t>Coerência semântica</a:t>
            </a:r>
            <a:endParaRPr lang="pt-BR" sz="104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9600" dirty="0">
                <a:latin typeface="Times New Roman"/>
                <a:ea typeface="SimSun"/>
                <a:cs typeface="Times New Roman"/>
              </a:rPr>
              <a:t>Relaciona-se com os </a:t>
            </a:r>
            <a:r>
              <a:rPr lang="pt-PT" sz="9600" u="sng" dirty="0">
                <a:latin typeface="Times New Roman"/>
                <a:ea typeface="SimSun"/>
                <a:cs typeface="Times New Roman"/>
              </a:rPr>
              <a:t>significados dos elementos que compõem um texto</a:t>
            </a:r>
            <a:r>
              <a:rPr lang="pt-PT" sz="9600" dirty="0">
                <a:latin typeface="Times New Roman"/>
                <a:ea typeface="SimSun"/>
                <a:cs typeface="Times New Roman"/>
              </a:rPr>
              <a:t>. Quando as frases </a:t>
            </a:r>
            <a:r>
              <a:rPr lang="pt-PT" sz="9600" dirty="0" smtClean="0">
                <a:latin typeface="Times New Roman"/>
                <a:ea typeface="SimSun"/>
                <a:cs typeface="Times New Roman"/>
              </a:rPr>
              <a:t>veiculam devidamente e de forma compreensivel a mensagem.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9600" dirty="0" smtClean="0">
                <a:latin typeface="Times New Roman"/>
                <a:ea typeface="SimSun"/>
                <a:cs typeface="Times New Roman"/>
              </a:rPr>
              <a:t>Quando as frases </a:t>
            </a:r>
            <a:r>
              <a:rPr lang="pt-PT" sz="9600" dirty="0" smtClean="0">
                <a:latin typeface="Times New Roman"/>
                <a:ea typeface="SimSun"/>
                <a:cs typeface="Times New Roman"/>
              </a:rPr>
              <a:t>aparecerem </a:t>
            </a:r>
            <a:r>
              <a:rPr lang="pt-PT" sz="9600" dirty="0">
                <a:latin typeface="Times New Roman"/>
                <a:ea typeface="SimSun"/>
                <a:cs typeface="Times New Roman"/>
              </a:rPr>
              <a:t>desprovidas de sentido ou quando houver ideias contraditórias, logo a coerência semântica não foi observada. </a:t>
            </a:r>
            <a:endParaRPr lang="pt-BR" sz="9600" dirty="0">
              <a:ea typeface="Calibri"/>
              <a:cs typeface="Times New Roman"/>
            </a:endParaRPr>
          </a:p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10400" b="1" dirty="0">
                <a:latin typeface="Times New Roman"/>
                <a:ea typeface="SimSun"/>
              </a:rPr>
              <a:t>Coerência </a:t>
            </a:r>
            <a:r>
              <a:rPr lang="pt-PT" sz="10400" b="1" dirty="0" smtClean="0">
                <a:latin typeface="Times New Roman"/>
                <a:ea typeface="SimSun"/>
              </a:rPr>
              <a:t>temática</a:t>
            </a:r>
            <a:endParaRPr lang="pt-BR" sz="10400" dirty="0" smtClean="0"/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279400" algn="l"/>
              </a:tabLst>
            </a:pPr>
            <a:r>
              <a:rPr lang="pt-PT" sz="9600" dirty="0" smtClean="0">
                <a:latin typeface="Times New Roman"/>
                <a:ea typeface="SimSun"/>
                <a:cs typeface="Times New Roman"/>
              </a:rPr>
              <a:t>Refere-se ao princípio que privilegia apenas as </a:t>
            </a:r>
            <a:r>
              <a:rPr lang="pt-PT" sz="9600" u="sng" dirty="0" smtClean="0">
                <a:latin typeface="Times New Roman"/>
                <a:ea typeface="SimSun"/>
                <a:cs typeface="Times New Roman"/>
              </a:rPr>
              <a:t>ideias que sejam relevantes para o bom desenvolvimento do tema</a:t>
            </a:r>
            <a:r>
              <a:rPr lang="pt-PT" sz="9600" dirty="0" smtClean="0">
                <a:latin typeface="Times New Roman"/>
                <a:ea typeface="SimSun"/>
                <a:cs typeface="Times New Roman"/>
              </a:rPr>
              <a:t>. Para que se consiga a coerência temática, as frases ou ideias que em nada contribuem para a sequência lógica dos argumentos devem ser evitadas.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279400" algn="l"/>
              </a:tabLst>
            </a:pPr>
            <a:endParaRPr lang="pt-BR" sz="10400" dirty="0" smtClean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5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3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pt-BR" sz="3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pt-PT" sz="5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17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8800" b="1" dirty="0">
                <a:latin typeface="Times New Roman"/>
                <a:ea typeface="SimSun"/>
              </a:rPr>
              <a:t>Coerência pragmática</a:t>
            </a:r>
            <a:endParaRPr lang="pt-BR" sz="8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8800" dirty="0">
                <a:latin typeface="Times New Roman"/>
                <a:ea typeface="SimSun"/>
                <a:cs typeface="Times New Roman"/>
              </a:rPr>
              <a:t>Acontece quando as </a:t>
            </a:r>
            <a:r>
              <a:rPr lang="pt-PT" sz="8800" u="sng" dirty="0">
                <a:latin typeface="Times New Roman"/>
                <a:ea typeface="SimSun"/>
                <a:cs typeface="Times New Roman"/>
              </a:rPr>
              <a:t>condições do contexto são favoráveis aos actos de fala dos interlocutores</a:t>
            </a:r>
            <a:r>
              <a:rPr lang="pt-PT" sz="8800" dirty="0">
                <a:latin typeface="Times New Roman"/>
                <a:ea typeface="SimSun"/>
                <a:cs typeface="Times New Roman"/>
              </a:rPr>
              <a:t>, por exemplo, quando fazemos uma pergunta para um interlocutor. A coerência pragmática exige que ele elabore uma resposta, dando sequência aos actos de fala e à comunicação. Se essas condições forem ignoradas, o resultado é a incoerência pragmática.</a:t>
            </a:r>
            <a:endParaRPr lang="pt-BR" sz="8800" dirty="0">
              <a:ea typeface="Calibri"/>
              <a:cs typeface="Times New Roman"/>
            </a:endParaRPr>
          </a:p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8800" b="1" dirty="0">
                <a:latin typeface="Times New Roman"/>
                <a:ea typeface="SimSun"/>
              </a:rPr>
              <a:t>Coerência estilística</a:t>
            </a:r>
            <a:endParaRPr lang="pt-BR" sz="8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8800" dirty="0">
                <a:latin typeface="Times New Roman"/>
                <a:ea typeface="SimSun"/>
                <a:cs typeface="Times New Roman"/>
              </a:rPr>
              <a:t>A coerência estilística exige a manutenção de um único tipo de linguagem. Se for contemplada a linguagem formal, ela deverá ser preservada até ao final da composição. O mesmo serve para a linguagem coloquial. A incoerência estilística não afecta o entendimento de um texto, mas o ideal é manter um padrão de linguagem único, sobretudo o que esteja adequado à situação linguística. </a:t>
            </a:r>
            <a:endParaRPr lang="pt-BR" sz="88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5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pt-PT" sz="5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33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6100" b="1" dirty="0">
                <a:latin typeface="Times New Roman"/>
                <a:ea typeface="SimSun"/>
                <a:cs typeface="Times New Roman"/>
              </a:rPr>
              <a:t>Coerência genérica</a:t>
            </a:r>
            <a:endParaRPr lang="pt-BR" sz="61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6100" dirty="0">
                <a:latin typeface="Times New Roman"/>
                <a:ea typeface="SimSun"/>
                <a:cs typeface="Times New Roman"/>
              </a:rPr>
              <a:t>Está relacionada à escolha adequada do género textual, por exemplo, se a intenção de quem escreve é anunciar algum produto para a venda, provavelmente ele optará pela linguagem utilizada nos classificados de um jornal. Se a intenção é contar uma história, optará pelo conto ou crónica.</a:t>
            </a:r>
            <a:endParaRPr lang="pt-BR" sz="61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6100" dirty="0">
                <a:latin typeface="Times New Roman"/>
                <a:ea typeface="SimSun"/>
                <a:cs typeface="Times New Roman"/>
              </a:rPr>
              <a:t>Os seis tipos de coerência textual apresentados, contribuem para a construção de enunciados aceitáveis, seja do ponto de vista semântico, sintáctico, estilístico, temático, genérico ou pragmático.</a:t>
            </a:r>
            <a:endParaRPr lang="pt-BR" sz="61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5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1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4800" b="1" u="sng" dirty="0">
                <a:latin typeface="Times New Roman"/>
                <a:ea typeface="SimSun"/>
                <a:cs typeface="Times New Roman"/>
              </a:rPr>
              <a:t>Princípios da coerência</a:t>
            </a:r>
            <a:endParaRPr lang="pt-BR" sz="4400" u="sng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A coerência depende das relações de sentido que se estabelecem entre as partes textuais e tais relações devem obedecer os três princípios:</a:t>
            </a:r>
            <a:endParaRPr lang="pt-BR" sz="4400" dirty="0">
              <a:ea typeface="Calibri"/>
              <a:cs typeface="Times New Roman"/>
            </a:endParaRPr>
          </a:p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48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Princípio da relevância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Rejeita eventos que não estejam logicamente relacionados entre si, ou seja, </a:t>
            </a:r>
            <a:r>
              <a:rPr lang="pt-PT" sz="4800" u="sng" dirty="0">
                <a:latin typeface="Times New Roman"/>
                <a:ea typeface="SimSun"/>
                <a:cs typeface="Times New Roman"/>
              </a:rPr>
              <a:t>não aprova a existência de partes textuais que falam de assuntos diferentes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, mesmo que tais partes contenham, </a:t>
            </a:r>
            <a:r>
              <a:rPr lang="pt-PT" sz="4800" dirty="0">
                <a:solidFill>
                  <a:prstClr val="black"/>
                </a:solidFill>
                <a:latin typeface="Times New Roman"/>
                <a:ea typeface="SimSun"/>
                <a:cs typeface="Times New Roman"/>
              </a:rPr>
              <a:t>individualmente,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  uma certa coerência.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8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</a:rPr>
              <a:t>Princípio da não contradição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Enfatiza a inexistência de situações logicamente incompatíveis, ou seja, </a:t>
            </a:r>
            <a:r>
              <a:rPr lang="pt-PT" sz="4800" u="sng" dirty="0">
                <a:latin typeface="Times New Roman"/>
                <a:ea typeface="SimSun"/>
                <a:cs typeface="Times New Roman"/>
              </a:rPr>
              <a:t>num texto, não se pode ter factos ou ideias que se contradizem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.</a:t>
            </a:r>
            <a:endParaRPr lang="pt-BR" sz="4400" dirty="0">
              <a:ea typeface="Calibri"/>
              <a:cs typeface="Times New Roman"/>
            </a:endParaRPr>
          </a:p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</a:rPr>
              <a:t>Princípio da não tautologia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Tautologia é o vício de linguagem, isto é, repetição de factos ou ideias, mas com recurso à expressões ou palavras diferentes. Nesse caso, </a:t>
            </a:r>
            <a:r>
              <a:rPr lang="pt-PT" sz="4800" u="sng" dirty="0">
                <a:latin typeface="Times New Roman"/>
                <a:ea typeface="SimSun"/>
                <a:cs typeface="Times New Roman"/>
              </a:rPr>
              <a:t>este princípio exclui a existência de factos repetidos, pois um texto coerente deve ser claro e conciso, evitando rodeios ou repetições desnecessárias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65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b="1" u="sng" dirty="0">
                <a:latin typeface="Times New Roman"/>
                <a:ea typeface="SimSun"/>
                <a:cs typeface="Times New Roman"/>
              </a:rPr>
              <a:t>II. Tipos de Coesão</a:t>
            </a:r>
            <a:endParaRPr lang="pt-BR" sz="4400" dirty="0">
              <a:ea typeface="Calibri"/>
              <a:cs typeface="Times New Roman"/>
            </a:endParaRPr>
          </a:p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  <a:cs typeface="Times New Roman"/>
              </a:rPr>
              <a:t>Coesão frásica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Times New Roman"/>
                <a:cs typeface="Times New Roman"/>
              </a:rPr>
              <a:t>Tem a ver com a ligação existente entre os componentes da frase. Verifica-se ao nível :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b="1" dirty="0">
                <a:latin typeface="Times New Roman"/>
                <a:ea typeface="Times New Roman"/>
                <a:cs typeface="Times New Roman"/>
              </a:rPr>
              <a:t>Da concordância: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b="1" dirty="0">
                <a:latin typeface="Times New Roman"/>
                <a:ea typeface="Calibri"/>
                <a:cs typeface="Times New Roman"/>
              </a:rPr>
              <a:t>Em género e número</a:t>
            </a:r>
            <a:endParaRPr lang="pt-BR" sz="4400" b="1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Exemplos: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i="1" dirty="0">
                <a:latin typeface="Times New Roman"/>
                <a:ea typeface="SimSun"/>
              </a:rPr>
              <a:t>Ele</a:t>
            </a:r>
            <a:r>
              <a:rPr lang="pt-PT" sz="4800" dirty="0">
                <a:latin typeface="Times New Roman"/>
                <a:ea typeface="SimSun"/>
              </a:rPr>
              <a:t> (masculino, 3ª pessoa do singular) </a:t>
            </a:r>
            <a:r>
              <a:rPr lang="pt-PT" sz="4800" i="1" dirty="0">
                <a:latin typeface="Times New Roman"/>
                <a:ea typeface="SimSun"/>
              </a:rPr>
              <a:t>chegou</a:t>
            </a:r>
            <a:r>
              <a:rPr lang="pt-PT" sz="4800" dirty="0">
                <a:latin typeface="Times New Roman"/>
                <a:ea typeface="SimSun"/>
              </a:rPr>
              <a:t> (3ª pessoa do singular);</a:t>
            </a:r>
            <a:endParaRPr lang="pt-BR" sz="32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i="1" dirty="0">
                <a:latin typeface="Times New Roman"/>
                <a:ea typeface="SimSun"/>
              </a:rPr>
              <a:t>Estas laranjas</a:t>
            </a:r>
            <a:r>
              <a:rPr lang="pt-PT" sz="4800" dirty="0">
                <a:latin typeface="Times New Roman"/>
                <a:ea typeface="SimSun"/>
              </a:rPr>
              <a:t> (feminino, plural) </a:t>
            </a:r>
            <a:r>
              <a:rPr lang="pt-PT" sz="4800" i="1" dirty="0">
                <a:latin typeface="Times New Roman"/>
                <a:ea typeface="SimSun"/>
              </a:rPr>
              <a:t>são</a:t>
            </a:r>
            <a:r>
              <a:rPr lang="pt-PT" sz="4800" dirty="0">
                <a:latin typeface="Times New Roman"/>
                <a:ea typeface="SimSun"/>
              </a:rPr>
              <a:t> (plural) </a:t>
            </a:r>
            <a:r>
              <a:rPr lang="pt-PT" sz="4800" i="1" dirty="0">
                <a:latin typeface="Times New Roman"/>
                <a:ea typeface="SimSun"/>
              </a:rPr>
              <a:t>azedas</a:t>
            </a:r>
            <a:r>
              <a:rPr lang="pt-PT" sz="4800" dirty="0">
                <a:latin typeface="Times New Roman"/>
                <a:ea typeface="SimSun"/>
              </a:rPr>
              <a:t> (feminino, plural).</a:t>
            </a:r>
            <a:endParaRPr lang="pt-BR" sz="32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PT" sz="4800" b="1" dirty="0"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8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500" b="1" dirty="0">
                <a:latin typeface="Times New Roman"/>
                <a:ea typeface="SimSun"/>
              </a:rPr>
              <a:t>Da ordem das palavras na frase</a:t>
            </a:r>
            <a:endParaRPr lang="pt-BR" sz="45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500" dirty="0">
                <a:latin typeface="Times New Roman"/>
                <a:ea typeface="SimSun"/>
                <a:cs typeface="Times New Roman"/>
              </a:rPr>
              <a:t>Veja-se a ambiguidade de sentido da frase seguinte, consequência da incorrecta colocação das palavras:</a:t>
            </a:r>
            <a:endParaRPr lang="pt-BR" sz="45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279400" algn="l"/>
              </a:tabLst>
            </a:pPr>
            <a:r>
              <a:rPr lang="pt-PT" sz="4500" dirty="0">
                <a:latin typeface="Times New Roman"/>
                <a:ea typeface="SimSun"/>
                <a:cs typeface="Times New Roman"/>
              </a:rPr>
              <a:t>*</a:t>
            </a:r>
            <a:r>
              <a:rPr lang="pt-PT" sz="4500" i="1" dirty="0">
                <a:latin typeface="Times New Roman"/>
                <a:ea typeface="SimSun"/>
                <a:cs typeface="Times New Roman"/>
              </a:rPr>
              <a:t>O homem admirava a bailarina que dançava com um olhar sensual</a:t>
            </a:r>
            <a:r>
              <a:rPr lang="pt-PT" sz="4500" dirty="0">
                <a:latin typeface="Times New Roman"/>
                <a:ea typeface="SimSun"/>
                <a:cs typeface="Times New Roman"/>
              </a:rPr>
              <a:t>.</a:t>
            </a:r>
            <a:endParaRPr lang="pt-BR" sz="45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500" dirty="0">
                <a:latin typeface="Times New Roman"/>
                <a:ea typeface="SimSun"/>
                <a:cs typeface="Times New Roman"/>
              </a:rPr>
              <a:t>Esta frase pode ser compreendida de duas formas, a saber:</a:t>
            </a:r>
            <a:endParaRPr lang="pt-BR" sz="45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500" i="1" dirty="0">
                <a:latin typeface="Times New Roman"/>
                <a:ea typeface="SimSun"/>
              </a:rPr>
              <a:t>O homem, com um olhar sensual, admirava a bailarina que dançava.</a:t>
            </a:r>
            <a:r>
              <a:rPr lang="pt-PT" sz="4500" dirty="0">
                <a:latin typeface="Times New Roman"/>
                <a:ea typeface="SimSun"/>
              </a:rPr>
              <a:t> Ou</a:t>
            </a:r>
            <a:endParaRPr lang="pt-BR" sz="45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500" i="1" dirty="0">
                <a:latin typeface="Times New Roman"/>
                <a:ea typeface="SimSun"/>
              </a:rPr>
              <a:t>O homem admirava a bailarina  que, com um olhar sensual, dançava</a:t>
            </a:r>
            <a:r>
              <a:rPr lang="pt-PT" sz="4500" dirty="0">
                <a:latin typeface="Times New Roman"/>
                <a:ea typeface="SimSun"/>
              </a:rPr>
              <a:t>.</a:t>
            </a:r>
            <a:endParaRPr lang="pt-BR" sz="45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500" dirty="0">
                <a:latin typeface="Times New Roman"/>
                <a:ea typeface="Times New Roman"/>
                <a:cs typeface="Times New Roman"/>
              </a:rPr>
              <a:t>Portanto, a ocorrência deste tipo de situações pode ser corrigida reordenando e pontuando a frase ou enunciado, de forma a retirar a ambiguidade patente no enunciado.</a:t>
            </a:r>
            <a:endParaRPr lang="pt-BR" sz="45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57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00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6400" b="1" dirty="0">
                <a:latin typeface="Times New Roman"/>
                <a:ea typeface="SimSun"/>
                <a:cs typeface="Times New Roman"/>
              </a:rPr>
              <a:t>Coesão interfrásica</a:t>
            </a:r>
            <a:endParaRPr lang="pt-BR" sz="6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6400" dirty="0">
                <a:latin typeface="Times New Roman"/>
                <a:ea typeface="Times New Roman"/>
                <a:cs typeface="Times New Roman"/>
              </a:rPr>
              <a:t>A coesão interfrásica é assegurada pelos marcadores discursivos (articuladores ou conectores discursivos). Deste modo, quando escrevemos ou falamos, devemos assegurar-nos de que usamos o conector adequado em relação ao que queremos expressar.</a:t>
            </a:r>
          </a:p>
          <a:p>
            <a:pPr marL="571500" indent="-5715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6400" b="1" dirty="0">
                <a:latin typeface="Times New Roman"/>
                <a:ea typeface="SimSun"/>
                <a:cs typeface="Times New Roman"/>
              </a:rPr>
              <a:t>Coesão referencial</a:t>
            </a:r>
            <a:endParaRPr lang="pt-BR" sz="6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6400" dirty="0">
                <a:latin typeface="Times New Roman"/>
                <a:ea typeface="SimSun"/>
                <a:cs typeface="Times New Roman"/>
              </a:rPr>
              <a:t>A Coesão referencial é a propriedade de qualquer texto em que se assinala, através da utilização de formas linguísticas apropriadas, que os indivíduos designados por uma dada expressão são introduzidos pela primeira vez no texto.</a:t>
            </a:r>
            <a:endParaRPr lang="pt-BR" sz="6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037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  <a:cs typeface="Times New Roman"/>
              </a:rPr>
              <a:t>Referência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Há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referência 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quando no discurso (oral ou escrito), o locutor introduz pela primeira vez algo (pessoa, coisa, ideia…) sobre que deseja falar. 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Exemplo: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i="1" dirty="0">
                <a:latin typeface="Times New Roman"/>
                <a:ea typeface="SimSun"/>
              </a:rPr>
              <a:t>A menina que já andava</a:t>
            </a:r>
            <a:r>
              <a:rPr lang="pt-PT" sz="4800" dirty="0">
                <a:latin typeface="Times New Roman"/>
                <a:ea typeface="SimSun"/>
              </a:rPr>
              <a:t>… (</a:t>
            </a:r>
            <a:r>
              <a:rPr lang="pt-PT" sz="4800" i="1" dirty="0">
                <a:latin typeface="Times New Roman"/>
                <a:ea typeface="SimSun"/>
              </a:rPr>
              <a:t>A menina</a:t>
            </a:r>
            <a:r>
              <a:rPr lang="pt-PT" sz="4800" dirty="0">
                <a:latin typeface="Times New Roman"/>
                <a:ea typeface="SimSun"/>
              </a:rPr>
              <a:t>: segmento textual A)</a:t>
            </a:r>
            <a:endParaRPr lang="pt-BR" sz="4800" dirty="0"/>
          </a:p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</a:rPr>
              <a:t>Co-referência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Há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co-referência 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quando o locutor, na sua cadeia discursiva, após a primeira introdução de algo – 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segmento textual </a:t>
            </a:r>
            <a:r>
              <a:rPr lang="pt-PT" sz="4800" b="1" i="1" dirty="0">
                <a:latin typeface="Times New Roman"/>
                <a:ea typeface="SimSun"/>
                <a:cs typeface="Times New Roman"/>
              </a:rPr>
              <a:t>A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 – continua a referir esse mesmo algo em segmentos textuais sucessivos –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B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,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 C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,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D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… (porque referem o mesmo, são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co-referentes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 do 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segmento textual </a:t>
            </a:r>
            <a:r>
              <a:rPr lang="pt-PT" sz="4800" b="1" i="1" dirty="0">
                <a:latin typeface="Times New Roman"/>
                <a:ea typeface="SimSun"/>
                <a:cs typeface="Times New Roman"/>
              </a:rPr>
              <a:t>A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).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78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</a:rPr>
              <a:t>Exemplo: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b="1" i="1" dirty="0">
                <a:latin typeface="Times New Roman"/>
                <a:ea typeface="SimSun"/>
                <a:cs typeface="Times New Roman"/>
              </a:rPr>
              <a:t>A menina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que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já andava morta de saudades, por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se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ver sem os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seus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filhos, vestiu-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se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à pressa com a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sua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saia de esquilhas e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partiu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para a corte. A rainha estava à espera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dela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e, assim que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a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viu, deixou-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a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entrar para um corredor, e lançou-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lhe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 as unhas, furiosa, para a afogar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15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</a:rPr>
              <a:t>Cadeia anafórica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Conjunto de segmentos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A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,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B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,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C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, </a:t>
            </a:r>
            <a:r>
              <a:rPr lang="pt-PT" sz="4800" b="1" dirty="0">
                <a:latin typeface="Times New Roman"/>
                <a:ea typeface="SimSun"/>
                <a:cs typeface="Times New Roman"/>
              </a:rPr>
              <a:t>D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… que num texto têm o mesmo referente, de modo explícito ou subentendido.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838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  <a:cs typeface="Times New Roman"/>
              </a:rPr>
              <a:t>Coesão lexical por semelhança ou oposição entre palavras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4400" b="1" dirty="0">
                <a:latin typeface="Times New Roman"/>
                <a:ea typeface="SimSun"/>
                <a:cs typeface="Times New Roman"/>
              </a:rPr>
              <a:t>Substituição</a:t>
            </a:r>
            <a:endParaRPr lang="pt-BR" sz="4000" dirty="0">
              <a:ea typeface="Calibri"/>
              <a:cs typeface="Times New Roman"/>
            </a:endParaRPr>
          </a:p>
          <a:p>
            <a:pPr marL="571500" indent="-5715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lang="pt-PT" sz="4400" dirty="0">
                <a:latin typeface="Times New Roman"/>
                <a:ea typeface="SimSun"/>
                <a:cs typeface="Times New Roman"/>
              </a:rPr>
              <a:t>Sinonímia – sinónimos: palavras ou expressões de sentido idêntico.</a:t>
            </a:r>
            <a:r>
              <a:rPr lang="pt-PT" sz="4000" b="1" dirty="0">
                <a:latin typeface="Times New Roman"/>
                <a:ea typeface="SimSun"/>
              </a:rPr>
              <a:t> </a:t>
            </a:r>
          </a:p>
          <a:p>
            <a:pPr marL="571500" indent="-5715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lang="pt-PT" sz="4000" dirty="0">
                <a:latin typeface="Times New Roman"/>
                <a:ea typeface="SimSun"/>
              </a:rPr>
              <a:t>Antonímia – antónimos: palavras ou expressões de sentido oposto.</a:t>
            </a:r>
            <a:endParaRPr lang="pt-BR" sz="4000" dirty="0"/>
          </a:p>
          <a:p>
            <a:pPr marL="571500" indent="-5715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§"/>
            </a:pPr>
            <a:endParaRPr lang="pt-BR" sz="40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527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900" b="1" dirty="0">
                <a:latin typeface="Times New Roman"/>
                <a:ea typeface="SimSun"/>
              </a:rPr>
              <a:t>Hiperonímia – hiperónimo: </a:t>
            </a:r>
            <a:r>
              <a:rPr lang="pt-PT" sz="4900" dirty="0">
                <a:latin typeface="Times New Roman"/>
                <a:ea typeface="SimSun"/>
              </a:rPr>
              <a:t>nome que </a:t>
            </a:r>
            <a:r>
              <a:rPr lang="pt-PT" sz="4900" u="sng" dirty="0">
                <a:latin typeface="Times New Roman"/>
                <a:ea typeface="SimSun"/>
              </a:rPr>
              <a:t>engloba</a:t>
            </a:r>
            <a:r>
              <a:rPr lang="pt-PT" sz="4900" dirty="0">
                <a:latin typeface="Times New Roman"/>
                <a:ea typeface="SimSun"/>
              </a:rPr>
              <a:t> os elementos de um conjunto, de uma classe. Por exemplo: o hiperónimo </a:t>
            </a:r>
            <a:r>
              <a:rPr lang="pt-PT" sz="4900" i="1" dirty="0">
                <a:latin typeface="Times New Roman"/>
                <a:ea typeface="SimSun"/>
              </a:rPr>
              <a:t>felino</a:t>
            </a:r>
            <a:r>
              <a:rPr lang="pt-PT" sz="4900" dirty="0">
                <a:latin typeface="Times New Roman"/>
                <a:ea typeface="SimSun"/>
              </a:rPr>
              <a:t> inclui todo o ‘género’ de animais com garas, como: </a:t>
            </a:r>
            <a:r>
              <a:rPr lang="pt-PT" sz="4900" u="sng" dirty="0">
                <a:latin typeface="Times New Roman"/>
                <a:ea typeface="SimSun"/>
              </a:rPr>
              <a:t>jaguar</a:t>
            </a:r>
            <a:r>
              <a:rPr lang="pt-PT" sz="4900" dirty="0">
                <a:latin typeface="Times New Roman"/>
                <a:ea typeface="SimSun"/>
              </a:rPr>
              <a:t>, </a:t>
            </a:r>
            <a:r>
              <a:rPr lang="pt-PT" sz="4900" u="sng" dirty="0">
                <a:latin typeface="Times New Roman"/>
                <a:ea typeface="SimSun"/>
              </a:rPr>
              <a:t>chita</a:t>
            </a:r>
            <a:r>
              <a:rPr lang="pt-PT" sz="4900" dirty="0">
                <a:latin typeface="Times New Roman"/>
                <a:ea typeface="SimSun"/>
              </a:rPr>
              <a:t>, </a:t>
            </a:r>
            <a:r>
              <a:rPr lang="pt-PT" sz="4900" u="sng" dirty="0">
                <a:latin typeface="Times New Roman"/>
                <a:ea typeface="SimSun"/>
              </a:rPr>
              <a:t>tigre</a:t>
            </a:r>
            <a:r>
              <a:rPr lang="pt-PT" sz="4900" dirty="0">
                <a:latin typeface="Times New Roman"/>
                <a:ea typeface="SimSun"/>
              </a:rPr>
              <a:t>, etc.</a:t>
            </a:r>
            <a:endParaRPr lang="pt-BR" sz="49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900" dirty="0">
                <a:latin typeface="Times New Roman"/>
                <a:ea typeface="SimSun"/>
              </a:rPr>
              <a:t>Exemplo:</a:t>
            </a:r>
            <a:endParaRPr lang="pt-BR" sz="4900" dirty="0"/>
          </a:p>
          <a:p>
            <a:pPr lvl="0" algn="just">
              <a:lnSpc>
                <a:spcPct val="150000"/>
              </a:lnSpc>
              <a:spcAft>
                <a:spcPts val="1000"/>
              </a:spcAft>
            </a:pPr>
            <a:r>
              <a:rPr lang="pt-PT" sz="4900" i="1" dirty="0">
                <a:latin typeface="Times New Roman"/>
                <a:ea typeface="SimSun"/>
              </a:rPr>
              <a:t>Os </a:t>
            </a:r>
            <a:r>
              <a:rPr lang="pt-PT" sz="4900" b="1" i="1" dirty="0">
                <a:solidFill>
                  <a:prstClr val="black"/>
                </a:solidFill>
                <a:latin typeface="Times New Roman"/>
                <a:ea typeface="SimSun"/>
              </a:rPr>
              <a:t>leões</a:t>
            </a:r>
            <a:r>
              <a:rPr lang="pt-PT" sz="4900" i="1" dirty="0">
                <a:solidFill>
                  <a:prstClr val="black"/>
                </a:solidFill>
                <a:latin typeface="Times New Roman"/>
                <a:ea typeface="SimSun"/>
              </a:rPr>
              <a:t> caçam também nas noites</a:t>
            </a:r>
            <a:r>
              <a:rPr lang="pt-PT" sz="4400" i="1" dirty="0">
                <a:solidFill>
                  <a:prstClr val="black"/>
                </a:solidFill>
                <a:latin typeface="Times New Roman"/>
                <a:ea typeface="SimSun"/>
              </a:rPr>
              <a:t>. Isto porque estes </a:t>
            </a:r>
            <a:r>
              <a:rPr lang="pt-PT" sz="4400" b="1" i="1" u="sng" dirty="0">
                <a:solidFill>
                  <a:prstClr val="black"/>
                </a:solidFill>
                <a:latin typeface="Times New Roman"/>
                <a:ea typeface="SimSun"/>
              </a:rPr>
              <a:t>felinos</a:t>
            </a:r>
            <a:r>
              <a:rPr lang="pt-PT" sz="4400" i="1" dirty="0">
                <a:solidFill>
                  <a:prstClr val="black"/>
                </a:solidFill>
                <a:latin typeface="Times New Roman"/>
                <a:ea typeface="SimSun"/>
              </a:rPr>
              <a:t> são ágeis</a:t>
            </a:r>
            <a:r>
              <a:rPr lang="pt-PT" sz="4900" i="1" dirty="0">
                <a:solidFill>
                  <a:prstClr val="black"/>
                </a:solidFill>
                <a:latin typeface="Times New Roman"/>
                <a:ea typeface="SimSun"/>
              </a:rPr>
              <a:t>.</a:t>
            </a:r>
            <a:endParaRPr lang="pt-BR" sz="4900" dirty="0">
              <a:solidFill>
                <a:prstClr val="black"/>
              </a:solidFill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PT" sz="4800" i="1" dirty="0">
              <a:latin typeface="Times New Roman"/>
              <a:ea typeface="SimSu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BR" sz="4800" dirty="0"/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1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b="1" dirty="0">
                <a:latin typeface="Times New Roman"/>
                <a:ea typeface="SimSun"/>
              </a:rPr>
              <a:t>Hiponímia – hipónimo</a:t>
            </a:r>
            <a:r>
              <a:rPr lang="pt-PT" sz="4800" dirty="0">
                <a:latin typeface="Times New Roman"/>
                <a:ea typeface="SimSun"/>
              </a:rPr>
              <a:t>: nome que individualiza os elementos de uma classe. É o conceito oposto de hiperónimo. Assim: </a:t>
            </a:r>
            <a:r>
              <a:rPr lang="pt-PT" sz="4800" u="sng" dirty="0">
                <a:latin typeface="Times New Roman"/>
                <a:ea typeface="SimSun"/>
              </a:rPr>
              <a:t>pardal</a:t>
            </a:r>
            <a:r>
              <a:rPr lang="pt-PT" sz="4800" dirty="0">
                <a:latin typeface="Times New Roman"/>
                <a:ea typeface="SimSun"/>
              </a:rPr>
              <a:t>, </a:t>
            </a:r>
            <a:r>
              <a:rPr lang="pt-PT" sz="4800" u="sng" dirty="0">
                <a:latin typeface="Times New Roman"/>
                <a:ea typeface="SimSun"/>
              </a:rPr>
              <a:t>águia</a:t>
            </a:r>
            <a:r>
              <a:rPr lang="pt-PT" sz="4800" dirty="0">
                <a:latin typeface="Times New Roman"/>
                <a:ea typeface="SimSun"/>
              </a:rPr>
              <a:t>, </a:t>
            </a:r>
            <a:r>
              <a:rPr lang="pt-PT" sz="4800" u="sng" dirty="0">
                <a:latin typeface="Times New Roman"/>
                <a:ea typeface="SimSun"/>
              </a:rPr>
              <a:t>periquito</a:t>
            </a:r>
            <a:r>
              <a:rPr lang="pt-PT" sz="4800" dirty="0">
                <a:latin typeface="Times New Roman"/>
                <a:ea typeface="SimSun"/>
              </a:rPr>
              <a:t>, </a:t>
            </a:r>
            <a:r>
              <a:rPr lang="pt-PT" sz="4800" u="sng" dirty="0">
                <a:latin typeface="Times New Roman"/>
                <a:ea typeface="SimSun"/>
              </a:rPr>
              <a:t>rouxinol</a:t>
            </a:r>
            <a:r>
              <a:rPr lang="pt-PT" sz="4800" dirty="0">
                <a:latin typeface="Times New Roman"/>
                <a:ea typeface="SimSun"/>
              </a:rPr>
              <a:t>, </a:t>
            </a:r>
            <a:r>
              <a:rPr lang="pt-PT" sz="4800" u="sng" dirty="0">
                <a:latin typeface="Times New Roman"/>
                <a:ea typeface="SimSun"/>
              </a:rPr>
              <a:t>avestruz</a:t>
            </a:r>
            <a:r>
              <a:rPr lang="pt-PT" sz="4800" dirty="0">
                <a:latin typeface="Times New Roman"/>
                <a:ea typeface="SimSun"/>
              </a:rPr>
              <a:t>, etc., são hipónimos de </a:t>
            </a:r>
            <a:r>
              <a:rPr lang="pt-PT" sz="4800" i="1" dirty="0">
                <a:latin typeface="Times New Roman"/>
                <a:ea typeface="SimSun"/>
              </a:rPr>
              <a:t>ave</a:t>
            </a:r>
            <a:r>
              <a:rPr lang="pt-PT" sz="4800" dirty="0">
                <a:latin typeface="Times New Roman"/>
                <a:ea typeface="SimSun"/>
              </a:rPr>
              <a:t>.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Exemplo: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i="1" dirty="0">
                <a:latin typeface="Times New Roman"/>
                <a:ea typeface="SimSun"/>
                <a:cs typeface="Times New Roman"/>
              </a:rPr>
              <a:t>Gosto de quase todas as </a:t>
            </a:r>
            <a:r>
              <a:rPr lang="pt-PT" sz="4800" b="1" i="1" dirty="0">
                <a:latin typeface="Times New Roman"/>
                <a:ea typeface="SimSun"/>
                <a:cs typeface="Times New Roman"/>
              </a:rPr>
              <a:t>aves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, mas tenho uma preferência muito especial por </a:t>
            </a:r>
            <a:r>
              <a:rPr lang="pt-PT" sz="4800" b="1" i="1" u="sng" dirty="0">
                <a:latin typeface="Times New Roman"/>
                <a:ea typeface="SimSun"/>
                <a:cs typeface="Times New Roman"/>
              </a:rPr>
              <a:t>rouxinóis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738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4800" b="1" u="sng" dirty="0">
                <a:latin typeface="Times New Roman"/>
                <a:ea typeface="SimSun"/>
                <a:cs typeface="Times New Roman"/>
              </a:rPr>
              <a:t>AMBIGUIDADE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Ambiguidade é a designação atribuída à duplicidade de sentidos.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Na gramática da língua portuguesa, diz-se que uma palavra, vocábulo ou frase é ambígua quando nos remete a diferentes interpretações. </a:t>
            </a: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402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4800" b="1" dirty="0">
                <a:latin typeface="Times New Roman"/>
                <a:ea typeface="SimSun"/>
                <a:cs typeface="Times New Roman"/>
              </a:rPr>
              <a:t>Classificação das ambiguidades</a:t>
            </a:r>
            <a:endParaRPr lang="pt-BR" sz="4400" dirty="0">
              <a:ea typeface="Calibri"/>
              <a:cs typeface="Times New Roman"/>
            </a:endParaRPr>
          </a:p>
          <a:p>
            <a:pPr marL="685800" indent="-68580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  <a:cs typeface="Times New Roman"/>
              </a:rPr>
              <a:t>Ambiguidade sintáctica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Ambiguidade sintáctica refere-se à posição de um sintagma, que é o conjunto de duas ou mais palavras que possuem um significado, mas que por si só não podem formar uma frase completa.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Exemplo: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279400" algn="l"/>
              </a:tabLst>
            </a:pPr>
            <a:r>
              <a:rPr lang="pt-PT" sz="4800" i="1" dirty="0">
                <a:latin typeface="Times New Roman"/>
                <a:ea typeface="SimSun"/>
                <a:cs typeface="Times New Roman"/>
              </a:rPr>
              <a:t>O rapaz viu a moça </a:t>
            </a:r>
            <a:r>
              <a:rPr lang="pt-PT" sz="4800" i="1" u="sng" dirty="0">
                <a:latin typeface="Times New Roman"/>
                <a:ea typeface="SimSun"/>
                <a:cs typeface="Times New Roman"/>
              </a:rPr>
              <a:t>na moto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400" dirty="0">
                <a:latin typeface="Times New Roman"/>
                <a:ea typeface="SimSun"/>
                <a:cs typeface="Times New Roman"/>
              </a:rPr>
              <a:t>Neste contexto, a ambiguidade resulta da posição em que o sintagma </a:t>
            </a:r>
            <a:r>
              <a:rPr lang="pt-PT" sz="4400" b="1" dirty="0">
                <a:latin typeface="Times New Roman"/>
                <a:ea typeface="SimSun"/>
                <a:cs typeface="Times New Roman"/>
              </a:rPr>
              <a:t>“na moto” </a:t>
            </a:r>
            <a:r>
              <a:rPr lang="pt-PT" sz="4400" dirty="0">
                <a:latin typeface="Times New Roman"/>
                <a:ea typeface="SimSun"/>
                <a:cs typeface="Times New Roman"/>
              </a:rPr>
              <a:t>ocorre na frase.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400" dirty="0">
                <a:latin typeface="Times New Roman"/>
                <a:ea typeface="SimSun"/>
                <a:cs typeface="Times New Roman"/>
              </a:rPr>
              <a:t>Esta frase pode ser interpretada como descrevendo a situação em que o rapaz estava na moto quando viu a moça ou, ainda, como descrevendo a situação em que a moça estava na moto quando o rapaz a viu. </a:t>
            </a:r>
            <a:endParaRPr lang="pt-BR" sz="40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400" dirty="0">
                <a:latin typeface="Times New Roman"/>
                <a:ea typeface="SimSun"/>
              </a:rPr>
              <a:t>Na moto, o rapaz viu a moça.</a:t>
            </a:r>
            <a:endParaRPr lang="pt-BR" sz="3200" dirty="0"/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279400" algn="l"/>
              </a:tabLst>
            </a:pP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48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Coerência e Coesão</a:t>
            </a:r>
            <a:endParaRPr lang="pt-P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pPr marL="685800" indent="-685800" algn="just">
              <a:lnSpc>
                <a:spcPct val="150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pt-PT" sz="4800" b="1" dirty="0">
                <a:latin typeface="Times New Roman"/>
                <a:ea typeface="SimSun"/>
              </a:rPr>
              <a:t>Ambiguidade lexical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</a:rPr>
              <a:t>Quando uma determinada palavra assume dois ou mais significados, remetendo o leitor a várias interpretações.</a:t>
            </a:r>
            <a:endParaRPr lang="pt-BR" sz="4800" dirty="0"/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Exemplo: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i="1" dirty="0">
                <a:latin typeface="Times New Roman"/>
                <a:ea typeface="SimSun"/>
                <a:cs typeface="Times New Roman"/>
              </a:rPr>
              <a:t>O rapaz pediu um prato ao garçom.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pt-PT" sz="4800" dirty="0">
                <a:latin typeface="Times New Roman"/>
                <a:ea typeface="SimSun"/>
                <a:cs typeface="Times New Roman"/>
              </a:rPr>
              <a:t>Nessa frase, a ambiguidade é resultado da palavra 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“prato” 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que pode ser interpretada de várias formas, por exemplo: pode-se interpretar </a:t>
            </a:r>
            <a:r>
              <a:rPr lang="pt-PT" sz="4800" i="1" dirty="0">
                <a:latin typeface="Times New Roman"/>
                <a:ea typeface="SimSun"/>
                <a:cs typeface="Times New Roman"/>
              </a:rPr>
              <a:t>prato</a:t>
            </a:r>
            <a:r>
              <a:rPr lang="pt-PT" sz="4800" dirty="0">
                <a:latin typeface="Times New Roman"/>
                <a:ea typeface="SimSun"/>
                <a:cs typeface="Times New Roman"/>
              </a:rPr>
              <a:t> como objeto onde se coloca a comida; em um segundo momento, é possível interpretar como um tipo de refeição.</a:t>
            </a:r>
            <a:endParaRPr lang="pt-BR" sz="4400" dirty="0"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PT" sz="4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258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3153</TotalTime>
  <Words>1521</Words>
  <Application>Microsoft Office PowerPoint</Application>
  <PresentationFormat>Widescreen</PresentationFormat>
  <Paragraphs>174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SimSun</vt:lpstr>
      <vt:lpstr>Arial</vt:lpstr>
      <vt:lpstr>Calibri</vt:lpstr>
      <vt:lpstr>Calibri Light</vt:lpstr>
      <vt:lpstr>Times New Roman</vt:lpstr>
      <vt:lpstr>Wingdings</vt:lpstr>
      <vt:lpstr>Tema do Office</vt:lpstr>
      <vt:lpstr>Reflexão sobre a gramática Gémeos do mal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  <vt:lpstr>Coerência e Coesão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Tomada de Notas</dc:title>
  <dc:creator>cristiano cavel</dc:creator>
  <cp:lastModifiedBy>a</cp:lastModifiedBy>
  <cp:revision>647</cp:revision>
  <dcterms:created xsi:type="dcterms:W3CDTF">2020-08-13T09:05:14Z</dcterms:created>
  <dcterms:modified xsi:type="dcterms:W3CDTF">2021-10-13T02:52:30Z</dcterms:modified>
</cp:coreProperties>
</file>