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308" r:id="rId3"/>
    <p:sldId id="309" r:id="rId4"/>
    <p:sldId id="322" r:id="rId5"/>
    <p:sldId id="310" r:id="rId6"/>
    <p:sldId id="311" r:id="rId7"/>
    <p:sldId id="321" r:id="rId8"/>
    <p:sldId id="320" r:id="rId9"/>
    <p:sldId id="319" r:id="rId10"/>
    <p:sldId id="318" r:id="rId11"/>
    <p:sldId id="317" r:id="rId12"/>
    <p:sldId id="316" r:id="rId13"/>
    <p:sldId id="315" r:id="rId14"/>
    <p:sldId id="314" r:id="rId15"/>
    <p:sldId id="313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056B0-F65A-4605-8777-ECC574D08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CD817F-8610-4DDB-AFE1-74992087C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9221EE-1112-42DD-A125-7A6425D0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334A40-A416-412E-8638-802D2808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9217539-609E-48AD-95FB-D2A3E6AB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224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AE8AB-E4C0-4831-95C9-EE459A85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A724C1-2B4E-47D3-B16E-B8C4289A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10A605B-F0B8-4146-8EC3-F2914C67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70EBA9B-C005-439C-9C63-FA819832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FDBAE34-9CB5-412E-84F6-07080429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756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2AED1-4B44-424C-B076-431F88E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7CF1817-8060-4164-93F0-3B3FEFF5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6644E6-FB09-41DF-9035-84227E5A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9CF42E-72F0-4BF5-B360-7C1498BB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35337C-15C6-4F1C-A2EA-AF3A5449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241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A72D7-2C60-4439-BE79-9B1FF34D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1A7D0CC-5659-408C-B4C4-724AADD20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5C91FF2-4AF1-4303-A57D-E76730633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C5C4-EB02-4849-A72E-9A34E45D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F3BCB5F-E2C6-412B-95F6-04A0D1EA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D175223-1385-4856-B38A-2C375098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06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B63A9-DA87-494B-9A2C-5249C639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D59BED5-3026-406C-A552-2DB931A7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B13BE4F-706A-468A-8384-E10B588B4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BE2A050-4A09-486C-BCC5-6B3956436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EF11627-A34F-4A2D-89C5-E7D56A72A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1472BFC-1D56-4E81-8865-2B5C85A8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B4F9E51-DAD1-423D-8425-C865EEEA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30B1A19-ED84-4FEF-9B08-6F40F312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264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8EB9A-CEFE-4F74-9549-39BA2921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18E86DA-03C9-4A90-8890-F195BA8C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8937EFB-3C69-4057-BB5A-FF0EBA18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332E424-84D7-423E-932C-EB595758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165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BA18170-AF8F-4F3A-B480-FB3C7515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CE12CD5-FA93-49FB-AC58-D656B74F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921141-E16D-4AF1-B490-93063C6F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179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CDE0-C78C-4718-854B-F1EFBCAD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9D099C3-0B3D-4308-A6A0-2D202EBD2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3EEFACF-7788-4473-8D70-612B31C6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B29C8A3-825B-4391-A1DD-6EF2B075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7C25AA6-F68E-44AB-9662-0E6227A5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8948D-83CC-4D1D-B3A6-3061E103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127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D928A-4F47-4430-A0BF-27C70465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02EE8E2-F78E-4EBD-8A69-45E06DD8B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9DA2C1E-F249-48B8-9EC4-5E7053577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20F5EE-5528-4F01-835D-8D794BEE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6A91910-DE35-4257-8FF7-5EE431A2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2F29758-FC33-43E0-8B21-01AF8CB0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083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B3CE0-DD26-449D-82F8-9218FF43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3A6AF13-8AE9-44B1-AB39-F6B058469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623F984-34F6-42FC-A235-0F115610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ECB7107-7ACB-4298-B668-A717E744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24F6DF9-4F3C-45CD-A9E2-1277E6AD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739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5C1F1F-68D4-45BA-84B6-48A6481C1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2E7D6E1-19BF-4906-AFF4-D00B02CFB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5B9BF05-FA00-4F2E-A5E6-D001A61D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A139973-E610-432A-BB53-E1DCE7DC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4FF9CD5-7DE9-4BA9-B394-56B18AA6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563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6BAEF08-5D4F-4081-94FA-98A42DAA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5C2BAE-530E-4F31-9895-3E51FA963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C22E6D4-B003-4E78-B729-1A1B867F0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14E15-D4BD-425A-BEEC-75D563BD9348}" type="datetimeFigureOut">
              <a:rPr lang="pt-PT" smtClean="0"/>
              <a:t>30/09/2022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D45121-ABB7-4FC7-A44C-6AACE8393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4D5A9D-B026-446D-960A-D0C967AF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217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escola.com/portugues/pronome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escola.com/portugues/regencia-verbal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nfoescola.com/portugues/concordancia-nominal/" TargetMode="External"/><Relationship Id="rId4" Type="http://schemas.openxmlformats.org/officeDocument/2006/relationships/hyperlink" Target="https://www.infoescola.com/portugues/concordancia-verbal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escola.com/portugues/colocacao-pronominal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782416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9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Frases para a reflexão</a:t>
            </a:r>
            <a:endParaRPr lang="pt-PT" sz="9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895060"/>
            <a:ext cx="11569148" cy="4850295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“Porque tenho assuntos a tratar, amanhã </a:t>
            </a:r>
            <a:r>
              <a:rPr lang="pt-B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tenho que passar da cidade.</a:t>
            </a: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endParaRPr lang="pt-PT" sz="5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Tudo aconteceu na altura que separei-me com os meus pais.</a:t>
            </a: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endParaRPr lang="pt-PT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“Saí nas forças armadas há cinco anos.”</a:t>
            </a:r>
            <a:endParaRPr lang="pt-PT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pt-PT" sz="5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pt-PT" sz="40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82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57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Sobre a Gramática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Gramática tem como finalidade </a:t>
            </a:r>
            <a:r>
              <a:rPr lang="pt-PT" sz="57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orientar</a:t>
            </a:r>
            <a:r>
              <a:rPr lang="pt-PT" sz="5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PT" sz="57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  <a:r>
              <a:rPr lang="pt-PT" sz="5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pt-PT" sz="57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uso da língua</a:t>
            </a:r>
            <a:r>
              <a:rPr lang="pt-PT" sz="5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estabelecendo um padrão de escrita e de fala.</a:t>
            </a:r>
            <a:endParaRPr lang="pt-BR" sz="5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57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4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ts val="1560"/>
              </a:lnSpc>
              <a:spcAft>
                <a:spcPts val="800"/>
              </a:spcAft>
            </a:pPr>
            <a:endParaRPr lang="pt-PT" sz="6600" b="1" dirty="0">
              <a:solidFill>
                <a:srgbClr val="000000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lang="pt-PT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Gramática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endParaRPr lang="pt-PT" sz="66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1560"/>
              </a:lnSpc>
              <a:spcAft>
                <a:spcPts val="800"/>
              </a:spcAft>
            </a:pPr>
            <a:r>
              <a:rPr lang="pt-PT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Gramática Histórica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Estuda a origem e a evolução histórica de uma língua.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200"/>
              </a:lnSpc>
              <a:spcAft>
                <a:spcPts val="800"/>
              </a:spcAft>
            </a:pPr>
            <a:endParaRPr lang="pt-PT" sz="5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1200"/>
              </a:lnSpc>
              <a:spcAft>
                <a:spcPts val="800"/>
              </a:spcAft>
            </a:pPr>
            <a:r>
              <a:rPr lang="pt-PT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Gramática Comparativa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Dedica-se ao estudo comparado de uma família de línguas. 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200"/>
              </a:lnSpc>
              <a:spcAft>
                <a:spcPts val="800"/>
              </a:spcAf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60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>
              <a:lnSpc>
                <a:spcPts val="1560"/>
              </a:lnSpc>
              <a:spcAft>
                <a:spcPts val="800"/>
              </a:spcAft>
            </a:pPr>
            <a:endParaRPr lang="pt-PT" sz="6600" b="1" dirty="0">
              <a:solidFill>
                <a:srgbClr val="000000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lang="pt-PT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Gramática</a:t>
            </a:r>
          </a:p>
          <a:p>
            <a:pPr lvl="0" algn="just">
              <a:lnSpc>
                <a:spcPts val="1200"/>
              </a:lnSpc>
              <a:spcAft>
                <a:spcPts val="800"/>
              </a:spcAft>
            </a:pPr>
            <a:r>
              <a:rPr lang="pt-PT" sz="4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Gramática Descritiva</a:t>
            </a:r>
            <a:endParaRPr lang="pt-BR" sz="46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pt-PT" sz="4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Ocupa-se da </a:t>
            </a:r>
            <a:r>
              <a:rPr lang="pt-PT" sz="4600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descrição</a:t>
            </a:r>
            <a:r>
              <a:rPr lang="pt-PT" sz="4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lang="pt-PT" sz="4600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factos ou fenómenos linguísticos</a:t>
            </a:r>
            <a:r>
              <a:rPr lang="pt-PT" sz="4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com o </a:t>
            </a:r>
            <a:r>
              <a:rPr lang="pt-PT" sz="4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objectivo</a:t>
            </a:r>
            <a:r>
              <a:rPr lang="pt-PT" sz="4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investigá-los e não de estabelecer o que é certo ou errado.</a:t>
            </a:r>
            <a:endParaRPr lang="pt-BR" sz="4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60"/>
              </a:lnSpc>
              <a:spcAft>
                <a:spcPts val="800"/>
              </a:spcAft>
            </a:pPr>
            <a:endParaRPr lang="pt-BR" sz="4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200"/>
              </a:lnSpc>
              <a:spcAft>
                <a:spcPts val="800"/>
              </a:spcAft>
            </a:pPr>
            <a:r>
              <a:rPr lang="pt-PT" sz="4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Gramática Normativa</a:t>
            </a:r>
            <a:endParaRPr lang="pt-BR" sz="4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spcAft>
                <a:spcPts val="800"/>
              </a:spcAft>
            </a:pPr>
            <a:r>
              <a:rPr lang="pt-PT" sz="4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 aquela que busca a padronização da língua, </a:t>
            </a:r>
            <a:r>
              <a:rPr lang="pt-PT" sz="4600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estabelecendo as normas do falar e escrever </a:t>
            </a:r>
            <a:r>
              <a:rPr lang="pt-PT" sz="4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pt-PT" sz="4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Costuma ser utilizada em sala de aulas e em livros didácticos e outros contextos formais de comunicação.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74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 linguística</a:t>
            </a:r>
            <a:r>
              <a:rPr lang="pt-PT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é o uso padronizado e estabilizado de uma língua, dentro de uma </a:t>
            </a:r>
            <a:r>
              <a:rPr lang="pt-PT" sz="5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determinada </a:t>
            </a:r>
            <a:r>
              <a:rPr lang="pt-PT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comunidade.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19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a</a:t>
            </a:r>
            <a:r>
              <a:rPr lang="pt-PT" sz="54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gramaticalidade</a:t>
            </a:r>
            <a:r>
              <a:rPr lang="pt-PT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sob a prespectiva linguística, existe quando se verifica um </a:t>
            </a:r>
            <a:r>
              <a:rPr lang="pt-PT" sz="54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</a:t>
            </a:r>
            <a:r>
              <a:rPr lang="pt-PT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ou </a:t>
            </a:r>
            <a:r>
              <a:rPr lang="pt-PT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desvio</a:t>
            </a:r>
            <a:r>
              <a:rPr lang="pt-PT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 relação à norma padrão.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8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Erros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1. </a:t>
            </a: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Erros de grafia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ocorrem nas mais diversas construções.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Comprei três quilos de </a:t>
            </a:r>
            <a:r>
              <a:rPr lang="pt-PT" sz="5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mortandela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(mortadela)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garoto foi pego roubando salchichas. Porisso, responde pelo crime cometido. (salsichas / Por isso)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2. </a:t>
            </a: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Erros de impropriedade vocabular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ocorrem quando se usa uma palavra em lugar de outra por falsa associação de sentido entre elas.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lâmpadas florescentes são mais econômicas. (fluorescentes)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negro tem sido muito descriminado neste país. (discriminado)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94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Erros de acentuação gráfica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desconhecimento das regras de acentuação vigentes.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Comprei na loja de conveniência vários </a:t>
            </a:r>
            <a:r>
              <a:rPr lang="pt-PT" sz="5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ítens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(itens – sem acento)</a:t>
            </a: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desconhecimento da posição </a:t>
            </a:r>
            <a:r>
              <a:rPr lang="pt-PT" sz="5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correcta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 sílaba tónica.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Exemplo: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rúbricas dos documentos eram falsas. (ru</a:t>
            </a:r>
            <a:r>
              <a:rPr lang="pt-PT" sz="5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 – paroxítona)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Erros no emprego da crase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Exemplo: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5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Projecto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visa promover uma campanha de ajuda as crianças vítimas da seca. (ajuda </a:t>
            </a:r>
            <a:r>
              <a:rPr lang="pt-PT" sz="5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quem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Às crianças vítimas da seca)</a:t>
            </a:r>
            <a:endParaRPr lang="pt-BR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Enviamos à V. Exª o resultado das avaliações. (Vossa não admite artigo antes, portanto, o correto seria “a V. Exª.)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60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 Erros de emprego dos </a:t>
            </a:r>
            <a:r>
              <a:rPr lang="pt-PT" sz="5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pronomes</a:t>
            </a:r>
            <a:r>
              <a:rPr lang="pt-PT" sz="5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 a função de sujeito ou objecto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Comprei este lindo relógio para mim usar no casamento. (para eu usar)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 Erros de emprego de verbos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Ocorre em três casos a saber: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 conjugação verbal.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 A polícia militar não </a:t>
            </a:r>
            <a:r>
              <a:rPr lang="pt-PT" sz="5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interviu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tempo de evitar o assassinato. (verbo intervir – composto: </a:t>
            </a:r>
            <a:r>
              <a:rPr lang="pt-PT" sz="5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</a:t>
            </a: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vir – passado de vir, ele veio. Então o passado de intervir é interveio)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tempo verbal.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 Encontrei Alice no mesmo lugar em que, anos antes, recebeu-me. (recebera)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modo verbal.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5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 Não estou certa que essa decisão satisfaz a todos. (satisfaça)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2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pt-PT" sz="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7. </a:t>
            </a:r>
            <a:r>
              <a:rPr lang="pt-PT" sz="5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Erros de </a:t>
            </a:r>
            <a:r>
              <a:rPr lang="pt-PT" sz="53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regência verbal</a:t>
            </a: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  <a:endParaRPr lang="pt-BR" sz="5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madeireiros discordam com a actual política florestal. (... “discordam da”...)</a:t>
            </a:r>
            <a:endParaRPr lang="pt-BR" sz="5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crianças assistiam os desenhos na televisão. (... “assistiam aos desenhos” ....)</a:t>
            </a:r>
            <a:endParaRPr lang="pt-BR" sz="5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8. </a:t>
            </a:r>
            <a:r>
              <a:rPr lang="pt-PT" sz="5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Erros de </a:t>
            </a:r>
            <a:r>
              <a:rPr lang="pt-PT" sz="53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concordância verbal</a:t>
            </a:r>
            <a:r>
              <a:rPr lang="pt-PT" sz="5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 </a:t>
            </a:r>
            <a:r>
              <a:rPr lang="pt-PT" sz="53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nominal</a:t>
            </a: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Exemplos:</a:t>
            </a:r>
          </a:p>
          <a:p>
            <a:pPr lvl="0"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Poderá acontecer mais incentivos como esses. (Poderão acontecer mais incentivos como esses.)</a:t>
            </a:r>
          </a:p>
          <a:p>
            <a:pPr lvl="0"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 FIFA aplica-se rigorosamente as regras do futebol. (Na FIFA aplicam-se rigorosamente as regras do futebol.)</a:t>
            </a:r>
          </a:p>
          <a:p>
            <a:pPr lvl="0" algn="just">
              <a:lnSpc>
                <a:spcPct val="120000"/>
              </a:lnSpc>
              <a:spcAft>
                <a:spcPts val="800"/>
              </a:spcAft>
            </a:pPr>
            <a:r>
              <a:rPr lang="pt-PT" sz="53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Devido às campanhas agrícolas, constata-se a existência de muitos produtos no mercado grossista de Zimpeto e </a:t>
            </a:r>
            <a:r>
              <a:rPr lang="pt-PT" sz="5300" u="sng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está</a:t>
            </a:r>
            <a:r>
              <a:rPr lang="pt-PT" sz="53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5300" u="sng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barato</a:t>
            </a:r>
            <a:r>
              <a:rPr lang="pt-PT" sz="53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74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  <a:spcAft>
                <a:spcPts val="800"/>
              </a:spcAft>
            </a:pPr>
            <a:r>
              <a:rPr lang="pt-PT" sz="1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9. </a:t>
            </a:r>
            <a:r>
              <a:rPr lang="pt-PT" sz="1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Erros de </a:t>
            </a:r>
            <a:r>
              <a:rPr lang="pt-PT" sz="14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colocação pronominal</a:t>
            </a:r>
            <a:r>
              <a:rPr lang="pt-PT" sz="1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  <a:spcAft>
                <a:spcPts val="800"/>
              </a:spcAft>
            </a:pPr>
            <a:r>
              <a:rPr lang="pt-PT" sz="1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Exemplo:</a:t>
            </a:r>
            <a:endParaRPr lang="pt-BR" sz="14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spcAft>
                <a:spcPts val="800"/>
              </a:spcAft>
            </a:pPr>
            <a:r>
              <a:rPr lang="pt-PT" sz="1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Enviaremos até a próxima semana os pedidos que encomendaram-nos. (que nos encomendaram)</a:t>
            </a:r>
            <a:endParaRPr lang="pt-BR" sz="14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14400" spc="15" dirty="0">
                <a:latin typeface="Source Sans Pro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 </a:t>
            </a:r>
            <a:endParaRPr lang="pt-BR" sz="14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42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112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Desvios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Cacografia 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forma indevida ou inadequada de grafar uma determinada palavra.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 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Mediante a acusação feita a ele, os advogados criticaram o juiz da cessão. (sessão)</a:t>
            </a:r>
          </a:p>
          <a:p>
            <a:pPr marL="685800" lvl="0" indent="-685800" algn="l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Silabada - c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onsiste no deslocamento do acento prosódico referente a um determinado vocábulo.</a:t>
            </a:r>
          </a:p>
          <a:p>
            <a:pPr lvl="0" algn="l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 </a:t>
            </a:r>
          </a:p>
          <a:p>
            <a:pPr lvl="0" algn="l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meio deste </a:t>
            </a:r>
            <a:r>
              <a:rPr lang="pt-PT" sz="9600" u="sng" spc="1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</a:t>
            </a:r>
            <a:r>
              <a:rPr lang="pt-PT" sz="9600" b="1" u="sng" spc="1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rim</a:t>
            </a:r>
            <a:r>
              <a:rPr lang="pt-PT" sz="9600" u="sng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foi inevitável que ela não se apaixonasse pelo rapaz. (</a:t>
            </a: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ín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terim)</a:t>
            </a:r>
          </a:p>
          <a:p>
            <a:pPr lvl="0" algn="l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5400" b="1" spc="15" dirty="0">
                <a:solidFill>
                  <a:srgbClr val="000000"/>
                </a:solidFill>
                <a:latin typeface="Source Sans Pro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/>
            </a:r>
            <a:br>
              <a:rPr lang="pt-PT" sz="5400" b="1" spc="15" dirty="0">
                <a:solidFill>
                  <a:srgbClr val="000000"/>
                </a:solidFill>
                <a:latin typeface="Source Sans Pro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</a:b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63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9600" b="1" i="1" spc="15" dirty="0">
                <a:solidFill>
                  <a:srgbClr val="000000"/>
                </a:solidFill>
                <a:latin typeface="Source Sans Pro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 </a:t>
            </a: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Solecismos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desvios cometidos contra as regras relacionadas com a sintaxe, podendo ser: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concordância 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 </a:t>
            </a:r>
            <a:r>
              <a:rPr lang="pt-PT" sz="9600" u="sng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Fazem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dias que não o vejo</a:t>
            </a: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(Faz dias que não o vejo)</a:t>
            </a:r>
          </a:p>
          <a:p>
            <a:pPr lvl="0" algn="l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pt-BR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educação moral está sendo </a:t>
            </a:r>
            <a:r>
              <a:rPr lang="pt-BR" sz="9600" u="sng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deixado</a:t>
            </a:r>
            <a:r>
              <a:rPr lang="pt-BR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trás. (deixada)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regência 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pt-PT" sz="9600" b="1" i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crianças já não obedecem </a:t>
            </a:r>
            <a:r>
              <a:rPr lang="pt-PT" sz="9600" u="sng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mais velhos.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(aos mais velhos)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BR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Há pais que batem </a:t>
            </a:r>
            <a:r>
              <a:rPr lang="pt-BR" sz="9600" u="sng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filhos</a:t>
            </a:r>
            <a:r>
              <a:rPr lang="pt-BR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(nos filhos) 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BR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Não tive dinheiro para ir dar </a:t>
            </a:r>
            <a:r>
              <a:rPr lang="pt-BR" sz="9600" u="sng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meu pai</a:t>
            </a:r>
            <a:r>
              <a:rPr lang="pt-BR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(ao meu pai)</a:t>
            </a:r>
            <a:endParaRPr lang="pt-PT" sz="9600" spc="15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96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colocação 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 </a:t>
            </a:r>
            <a:r>
              <a:rPr lang="pt-PT" sz="9600" u="sng" spc="1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Oferecerei-lhe</a:t>
            </a:r>
            <a: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todos os meus préstimos. (Oferecer-lhe-ei)</a:t>
            </a:r>
            <a:br>
              <a:rPr lang="pt-PT" sz="96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1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54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Ambiguidade ou anfibologia </a:t>
            </a: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resulta na incoerência de sentido, originando a duplicidade de interpretações.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mãe pegou a criança chorando. (A mãe pegou a criança que estava chorando)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54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Cacofonia</a:t>
            </a: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resulta na junção de sílabas diferentes, resultando em um péssimo efeito sonoro.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400" spc="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Não vi ela durante toda a festa. (Não a vi durante toda a festa.)</a:t>
            </a:r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34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Gramaticalidade </a:t>
            </a:r>
            <a:r>
              <a:rPr lang="pt-PT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Agramaticalidade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Pleonasmo vicioso </a:t>
            </a:r>
            <a:r>
              <a:rPr lang="pt-PT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Configura-se pelo uso desnecessário de alguns termos, partindo-se do princípio de que nada acrescentam à ideia, pois esta já revela por si a própria noção de significância.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BR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Exemplo: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BR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Garoto, desça já lá em baixo e traga-me a encomenda.</a:t>
            </a:r>
            <a:endParaRPr lang="pt-PT" sz="3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8685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3713</TotalTime>
  <Words>511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Helvetica</vt:lpstr>
      <vt:lpstr>Source Sans Pro</vt:lpstr>
      <vt:lpstr>Times New Roman</vt:lpstr>
      <vt:lpstr>Wingdings</vt:lpstr>
      <vt:lpstr>Tema do Office</vt:lpstr>
      <vt:lpstr>Frases para a reflexão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  <vt:lpstr>Gramaticalidade vs Agramaticalidade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Tomada de Notas</dc:title>
  <dc:creator>cristiano cavel</dc:creator>
  <cp:lastModifiedBy>a</cp:lastModifiedBy>
  <cp:revision>740</cp:revision>
  <dcterms:created xsi:type="dcterms:W3CDTF">2020-08-13T09:05:14Z</dcterms:created>
  <dcterms:modified xsi:type="dcterms:W3CDTF">2022-09-29T23:48:44Z</dcterms:modified>
</cp:coreProperties>
</file>